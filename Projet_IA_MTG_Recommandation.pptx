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4" r:id="rId5"/>
    <p:sldId id="285" r:id="rId6"/>
    <p:sldId id="287" r:id="rId7"/>
    <p:sldId id="286" r:id="rId8"/>
    <p:sldId id="272" r:id="rId9"/>
    <p:sldId id="271" r:id="rId10"/>
    <p:sldId id="273" r:id="rId11"/>
    <p:sldId id="259" r:id="rId12"/>
    <p:sldId id="261" r:id="rId13"/>
    <p:sldId id="262" r:id="rId14"/>
    <p:sldId id="265" r:id="rId15"/>
    <p:sldId id="266" r:id="rId16"/>
    <p:sldId id="275" r:id="rId17"/>
    <p:sldId id="276" r:id="rId18"/>
    <p:sldId id="277" r:id="rId19"/>
    <p:sldId id="278" r:id="rId20"/>
    <p:sldId id="279" r:id="rId21"/>
    <p:sldId id="280" r:id="rId22"/>
    <p:sldId id="267" r:id="rId23"/>
    <p:sldId id="274" r:id="rId24"/>
    <p:sldId id="282" r:id="rId25"/>
    <p:sldId id="283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1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1B2303-AEE4-4F27-B7AB-206005749B96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</dgm:pt>
    <dgm:pt modelId="{2327CBF3-666F-48CD-BF66-5F7B7A64F8D9}">
      <dgm:prSet phldrT="[Texte]"/>
      <dgm:spPr/>
      <dgm:t>
        <a:bodyPr/>
        <a:lstStyle/>
        <a:p>
          <a:r>
            <a:rPr lang="fr-FR" dirty="0"/>
            <a:t>Recommande par rapport à l’existant</a:t>
          </a:r>
        </a:p>
      </dgm:t>
    </dgm:pt>
    <dgm:pt modelId="{0CBF8612-4C8C-40B2-80EE-8183E4057304}" type="parTrans" cxnId="{48B18D44-D346-4CDA-8FA5-AB2B7D8AFEE1}">
      <dgm:prSet/>
      <dgm:spPr/>
      <dgm:t>
        <a:bodyPr/>
        <a:lstStyle/>
        <a:p>
          <a:endParaRPr lang="fr-FR"/>
        </a:p>
      </dgm:t>
    </dgm:pt>
    <dgm:pt modelId="{0B6C386D-AF44-47DD-B535-C90DC85B5EFA}" type="sibTrans" cxnId="{48B18D44-D346-4CDA-8FA5-AB2B7D8AFEE1}">
      <dgm:prSet/>
      <dgm:spPr/>
      <dgm:t>
        <a:bodyPr/>
        <a:lstStyle/>
        <a:p>
          <a:endParaRPr lang="fr-FR"/>
        </a:p>
      </dgm:t>
    </dgm:pt>
    <dgm:pt modelId="{0497AA05-3BBE-48DE-9F33-8DC6EAEF0148}">
      <dgm:prSet phldrT="[Texte]"/>
      <dgm:spPr/>
      <dgm:t>
        <a:bodyPr/>
        <a:lstStyle/>
        <a:p>
          <a:r>
            <a:rPr lang="fr-FR" dirty="0"/>
            <a:t>Compare la nouveauté par rapport à l’existant</a:t>
          </a:r>
        </a:p>
      </dgm:t>
    </dgm:pt>
    <dgm:pt modelId="{145930C0-BBBA-4D42-AAAD-E532BF2AF666}" type="parTrans" cxnId="{D6AED91E-4AF4-449B-A795-0A790325726A}">
      <dgm:prSet/>
      <dgm:spPr/>
      <dgm:t>
        <a:bodyPr/>
        <a:lstStyle/>
        <a:p>
          <a:endParaRPr lang="fr-FR"/>
        </a:p>
      </dgm:t>
    </dgm:pt>
    <dgm:pt modelId="{0BB61CED-EBE7-4417-9953-9A7F3557434F}" type="sibTrans" cxnId="{D6AED91E-4AF4-449B-A795-0A790325726A}">
      <dgm:prSet/>
      <dgm:spPr/>
      <dgm:t>
        <a:bodyPr/>
        <a:lstStyle/>
        <a:p>
          <a:endParaRPr lang="fr-FR"/>
        </a:p>
      </dgm:t>
    </dgm:pt>
    <dgm:pt modelId="{721B3BC8-C4F8-4C50-8681-C1F3E26C8B85}">
      <dgm:prSet phldrT="[Texte]"/>
      <dgm:spPr/>
      <dgm:t>
        <a:bodyPr/>
        <a:lstStyle/>
        <a:p>
          <a:r>
            <a:rPr lang="fr-FR" dirty="0"/>
            <a:t>Capable de définir l’intérêt d’une carte par rapport a un contexte </a:t>
          </a:r>
        </a:p>
      </dgm:t>
    </dgm:pt>
    <dgm:pt modelId="{7A3E319C-CC04-4F7D-A828-1A7373A6600D}" type="parTrans" cxnId="{CB047013-23EA-4752-AC55-E180349A2B13}">
      <dgm:prSet/>
      <dgm:spPr/>
      <dgm:t>
        <a:bodyPr/>
        <a:lstStyle/>
        <a:p>
          <a:endParaRPr lang="fr-FR"/>
        </a:p>
      </dgm:t>
    </dgm:pt>
    <dgm:pt modelId="{CF83C2FC-0EC4-4509-A2AD-CB7C643B0A83}" type="sibTrans" cxnId="{CB047013-23EA-4752-AC55-E180349A2B13}">
      <dgm:prSet/>
      <dgm:spPr/>
      <dgm:t>
        <a:bodyPr/>
        <a:lstStyle/>
        <a:p>
          <a:endParaRPr lang="fr-FR"/>
        </a:p>
      </dgm:t>
    </dgm:pt>
    <dgm:pt modelId="{9D40187E-E093-4CA0-A20A-FE91C2E6ECAE}" type="pres">
      <dgm:prSet presAssocID="{2A1B2303-AEE4-4F27-B7AB-206005749B9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26689EE-9E94-4243-97C6-47B416933AD4}" type="pres">
      <dgm:prSet presAssocID="{2327CBF3-666F-48CD-BF66-5F7B7A64F8D9}" presName="Accent1" presStyleCnt="0"/>
      <dgm:spPr/>
    </dgm:pt>
    <dgm:pt modelId="{644DDC0D-30D1-4F1C-8B38-8CAA25ECA220}" type="pres">
      <dgm:prSet presAssocID="{2327CBF3-666F-48CD-BF66-5F7B7A64F8D9}" presName="Accent" presStyleLbl="node1" presStyleIdx="0" presStyleCnt="3"/>
      <dgm:spPr/>
    </dgm:pt>
    <dgm:pt modelId="{636114C5-3FB3-424F-AE88-76EF2C187C63}" type="pres">
      <dgm:prSet presAssocID="{2327CBF3-666F-48CD-BF66-5F7B7A64F8D9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599DE5A7-A243-4A0F-912B-D2D3B7B69357}" type="pres">
      <dgm:prSet presAssocID="{0497AA05-3BBE-48DE-9F33-8DC6EAEF0148}" presName="Accent2" presStyleCnt="0"/>
      <dgm:spPr/>
    </dgm:pt>
    <dgm:pt modelId="{43ED638F-F76A-4674-BABE-1BA7080FDFEA}" type="pres">
      <dgm:prSet presAssocID="{0497AA05-3BBE-48DE-9F33-8DC6EAEF0148}" presName="Accent" presStyleLbl="node1" presStyleIdx="1" presStyleCnt="3"/>
      <dgm:spPr/>
    </dgm:pt>
    <dgm:pt modelId="{E27CC10B-5CBB-4CAD-B23A-2968468C1542}" type="pres">
      <dgm:prSet presAssocID="{0497AA05-3BBE-48DE-9F33-8DC6EAEF0148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E937ED7C-0022-4DD3-8B4E-74036A2AE219}" type="pres">
      <dgm:prSet presAssocID="{721B3BC8-C4F8-4C50-8681-C1F3E26C8B85}" presName="Accent3" presStyleCnt="0"/>
      <dgm:spPr/>
    </dgm:pt>
    <dgm:pt modelId="{1F082777-C77A-409F-B19D-C87A90AA9D6C}" type="pres">
      <dgm:prSet presAssocID="{721B3BC8-C4F8-4C50-8681-C1F3E26C8B85}" presName="Accent" presStyleLbl="node1" presStyleIdx="2" presStyleCnt="3"/>
      <dgm:spPr/>
    </dgm:pt>
    <dgm:pt modelId="{5D8830A4-FE29-47BB-97F0-134FDF7CF5E8}" type="pres">
      <dgm:prSet presAssocID="{721B3BC8-C4F8-4C50-8681-C1F3E26C8B85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CB047013-23EA-4752-AC55-E180349A2B13}" srcId="{2A1B2303-AEE4-4F27-B7AB-206005749B96}" destId="{721B3BC8-C4F8-4C50-8681-C1F3E26C8B85}" srcOrd="2" destOrd="0" parTransId="{7A3E319C-CC04-4F7D-A828-1A7373A6600D}" sibTransId="{CF83C2FC-0EC4-4509-A2AD-CB7C643B0A83}"/>
    <dgm:cxn modelId="{D6AED91E-4AF4-449B-A795-0A790325726A}" srcId="{2A1B2303-AEE4-4F27-B7AB-206005749B96}" destId="{0497AA05-3BBE-48DE-9F33-8DC6EAEF0148}" srcOrd="1" destOrd="0" parTransId="{145930C0-BBBA-4D42-AAAD-E532BF2AF666}" sibTransId="{0BB61CED-EBE7-4417-9953-9A7F3557434F}"/>
    <dgm:cxn modelId="{E6B42F20-6B86-4F6B-8B94-B27237596DBA}" type="presOf" srcId="{2A1B2303-AEE4-4F27-B7AB-206005749B96}" destId="{9D40187E-E093-4CA0-A20A-FE91C2E6ECAE}" srcOrd="0" destOrd="0" presId="urn:microsoft.com/office/officeart/2009/layout/CircleArrowProcess"/>
    <dgm:cxn modelId="{48B18D44-D346-4CDA-8FA5-AB2B7D8AFEE1}" srcId="{2A1B2303-AEE4-4F27-B7AB-206005749B96}" destId="{2327CBF3-666F-48CD-BF66-5F7B7A64F8D9}" srcOrd="0" destOrd="0" parTransId="{0CBF8612-4C8C-40B2-80EE-8183E4057304}" sibTransId="{0B6C386D-AF44-47DD-B535-C90DC85B5EFA}"/>
    <dgm:cxn modelId="{35D1134C-4FB9-443C-AD16-B2DA5A85C2FB}" type="presOf" srcId="{2327CBF3-666F-48CD-BF66-5F7B7A64F8D9}" destId="{636114C5-3FB3-424F-AE88-76EF2C187C63}" srcOrd="0" destOrd="0" presId="urn:microsoft.com/office/officeart/2009/layout/CircleArrowProcess"/>
    <dgm:cxn modelId="{BBF8B67D-805D-40D8-B517-86C32E8F75E8}" type="presOf" srcId="{0497AA05-3BBE-48DE-9F33-8DC6EAEF0148}" destId="{E27CC10B-5CBB-4CAD-B23A-2968468C1542}" srcOrd="0" destOrd="0" presId="urn:microsoft.com/office/officeart/2009/layout/CircleArrowProcess"/>
    <dgm:cxn modelId="{E979B882-6106-48F0-AF0E-EDDC4684BF52}" type="presOf" srcId="{721B3BC8-C4F8-4C50-8681-C1F3E26C8B85}" destId="{5D8830A4-FE29-47BB-97F0-134FDF7CF5E8}" srcOrd="0" destOrd="0" presId="urn:microsoft.com/office/officeart/2009/layout/CircleArrowProcess"/>
    <dgm:cxn modelId="{19B9B0A7-7C5B-4F4E-A918-213A7CBBBE94}" type="presParOf" srcId="{9D40187E-E093-4CA0-A20A-FE91C2E6ECAE}" destId="{626689EE-9E94-4243-97C6-47B416933AD4}" srcOrd="0" destOrd="0" presId="urn:microsoft.com/office/officeart/2009/layout/CircleArrowProcess"/>
    <dgm:cxn modelId="{3E7625B9-B4F7-43DD-B5D4-A2839372F207}" type="presParOf" srcId="{626689EE-9E94-4243-97C6-47B416933AD4}" destId="{644DDC0D-30D1-4F1C-8B38-8CAA25ECA220}" srcOrd="0" destOrd="0" presId="urn:microsoft.com/office/officeart/2009/layout/CircleArrowProcess"/>
    <dgm:cxn modelId="{2EF21899-983E-462B-8254-4C2EEC702CF7}" type="presParOf" srcId="{9D40187E-E093-4CA0-A20A-FE91C2E6ECAE}" destId="{636114C5-3FB3-424F-AE88-76EF2C187C63}" srcOrd="1" destOrd="0" presId="urn:microsoft.com/office/officeart/2009/layout/CircleArrowProcess"/>
    <dgm:cxn modelId="{355D9070-3AC9-4CD4-9D49-03B0FCE8B8F7}" type="presParOf" srcId="{9D40187E-E093-4CA0-A20A-FE91C2E6ECAE}" destId="{599DE5A7-A243-4A0F-912B-D2D3B7B69357}" srcOrd="2" destOrd="0" presId="urn:microsoft.com/office/officeart/2009/layout/CircleArrowProcess"/>
    <dgm:cxn modelId="{4CF0FB25-5AFB-41BE-A8C2-7B0CD69211E8}" type="presParOf" srcId="{599DE5A7-A243-4A0F-912B-D2D3B7B69357}" destId="{43ED638F-F76A-4674-BABE-1BA7080FDFEA}" srcOrd="0" destOrd="0" presId="urn:microsoft.com/office/officeart/2009/layout/CircleArrowProcess"/>
    <dgm:cxn modelId="{8748C108-9442-4299-8462-3D689D3DECCE}" type="presParOf" srcId="{9D40187E-E093-4CA0-A20A-FE91C2E6ECAE}" destId="{E27CC10B-5CBB-4CAD-B23A-2968468C1542}" srcOrd="3" destOrd="0" presId="urn:microsoft.com/office/officeart/2009/layout/CircleArrowProcess"/>
    <dgm:cxn modelId="{8DB8AA1C-A4FB-4BCD-AD75-30B0C98FB65F}" type="presParOf" srcId="{9D40187E-E093-4CA0-A20A-FE91C2E6ECAE}" destId="{E937ED7C-0022-4DD3-8B4E-74036A2AE219}" srcOrd="4" destOrd="0" presId="urn:microsoft.com/office/officeart/2009/layout/CircleArrowProcess"/>
    <dgm:cxn modelId="{6FD31154-CFE9-4A7E-8817-71071B0B7D07}" type="presParOf" srcId="{E937ED7C-0022-4DD3-8B4E-74036A2AE219}" destId="{1F082777-C77A-409F-B19D-C87A90AA9D6C}" srcOrd="0" destOrd="0" presId="urn:microsoft.com/office/officeart/2009/layout/CircleArrowProcess"/>
    <dgm:cxn modelId="{FA02C609-E09E-4FF9-9C58-82F15A12C228}" type="presParOf" srcId="{9D40187E-E093-4CA0-A20A-FE91C2E6ECAE}" destId="{5D8830A4-FE29-47BB-97F0-134FDF7CF5E8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DDC0D-30D1-4F1C-8B38-8CAA25ECA220}">
      <dsp:nvSpPr>
        <dsp:cNvPr id="0" name=""/>
        <dsp:cNvSpPr/>
      </dsp:nvSpPr>
      <dsp:spPr>
        <a:xfrm>
          <a:off x="2015892" y="0"/>
          <a:ext cx="1653525" cy="165377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114C5-3FB3-424F-AE88-76EF2C187C63}">
      <dsp:nvSpPr>
        <dsp:cNvPr id="0" name=""/>
        <dsp:cNvSpPr/>
      </dsp:nvSpPr>
      <dsp:spPr>
        <a:xfrm>
          <a:off x="2381376" y="597063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Recommande par rapport à l’existant</a:t>
          </a:r>
        </a:p>
      </dsp:txBody>
      <dsp:txXfrm>
        <a:off x="2381376" y="597063"/>
        <a:ext cx="918832" cy="459306"/>
      </dsp:txXfrm>
    </dsp:sp>
    <dsp:sp modelId="{43ED638F-F76A-4674-BABE-1BA7080FDFEA}">
      <dsp:nvSpPr>
        <dsp:cNvPr id="0" name=""/>
        <dsp:cNvSpPr/>
      </dsp:nvSpPr>
      <dsp:spPr>
        <a:xfrm>
          <a:off x="1556631" y="950217"/>
          <a:ext cx="1653525" cy="165377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CC10B-5CBB-4CAD-B23A-2968468C1542}">
      <dsp:nvSpPr>
        <dsp:cNvPr id="0" name=""/>
        <dsp:cNvSpPr/>
      </dsp:nvSpPr>
      <dsp:spPr>
        <a:xfrm>
          <a:off x="1923978" y="1552778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Compare la nouveauté par rapport à l’existant</a:t>
          </a:r>
        </a:p>
      </dsp:txBody>
      <dsp:txXfrm>
        <a:off x="1923978" y="1552778"/>
        <a:ext cx="918832" cy="459306"/>
      </dsp:txXfrm>
    </dsp:sp>
    <dsp:sp modelId="{1F082777-C77A-409F-B19D-C87A90AA9D6C}">
      <dsp:nvSpPr>
        <dsp:cNvPr id="0" name=""/>
        <dsp:cNvSpPr/>
      </dsp:nvSpPr>
      <dsp:spPr>
        <a:xfrm>
          <a:off x="2133580" y="2014145"/>
          <a:ext cx="1420634" cy="1421204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30A4-FE29-47BB-97F0-134FDF7CF5E8}">
      <dsp:nvSpPr>
        <dsp:cNvPr id="0" name=""/>
        <dsp:cNvSpPr/>
      </dsp:nvSpPr>
      <dsp:spPr>
        <a:xfrm>
          <a:off x="2383549" y="2509866"/>
          <a:ext cx="918832" cy="459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Capable de définir l’intérêt d’une carte par rapport a un contexte </a:t>
          </a:r>
        </a:p>
      </dsp:txBody>
      <dsp:txXfrm>
        <a:off x="2383549" y="2509866"/>
        <a:ext cx="918832" cy="459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ryfall.com/docs/ap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yfall.com/docs/api" TargetMode="External"/><Relationship Id="rId2" Type="http://schemas.openxmlformats.org/officeDocument/2006/relationships/hyperlink" Target="https://mtgjson.com/data-models/card/card-atomi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utyOc_cAEU?si=zkAO3sI0Kc-32dO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Projet</a:t>
            </a:r>
            <a:r>
              <a:rPr dirty="0"/>
              <a:t> IA – </a:t>
            </a:r>
            <a:r>
              <a:rPr dirty="0" err="1"/>
              <a:t>Recommandation</a:t>
            </a:r>
            <a:r>
              <a:rPr dirty="0"/>
              <a:t> de </a:t>
            </a:r>
            <a:r>
              <a:rPr dirty="0" err="1"/>
              <a:t>cartes</a:t>
            </a:r>
            <a:r>
              <a:rPr dirty="0"/>
              <a:t> MTG</a:t>
            </a:r>
            <a:r>
              <a:rPr lang="fr-FR" dirty="0"/>
              <a:t> pour commander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 détaillé et points clés à considérer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Objectif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Main :</a:t>
            </a:r>
          </a:p>
          <a:p>
            <a:pPr marL="0" indent="0">
              <a:buNone/>
            </a:pPr>
            <a:endParaRPr dirty="0"/>
          </a:p>
          <a:p>
            <a:r>
              <a:rPr lang="fr-FR" sz="1800" b="0" dirty="0">
                <a:latin typeface="Arial"/>
              </a:rPr>
              <a:t>Amélioration de deck existant</a:t>
            </a:r>
          </a:p>
          <a:p>
            <a:pPr lvl="1"/>
            <a:r>
              <a:rPr lang="fr-FR" sz="1400" b="0" dirty="0">
                <a:latin typeface="Arial"/>
              </a:rPr>
              <a:t>Cartes à ajouter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457200" lvl="1" indent="0">
              <a:buNone/>
            </a:pPr>
            <a:endParaRPr lang="fr-FR" sz="14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Préconisation de cartes à venir</a:t>
            </a:r>
          </a:p>
          <a:p>
            <a:endParaRPr lang="fr-FR" sz="1800" dirty="0">
              <a:latin typeface="Arial"/>
            </a:endParaRPr>
          </a:p>
          <a:p>
            <a:pPr marL="0" indent="0">
              <a:buNone/>
            </a:pPr>
            <a:r>
              <a:rPr lang="fr-FR" dirty="0" err="1"/>
              <a:t>Additionnal</a:t>
            </a:r>
            <a:r>
              <a:rPr lang="fr-FR" dirty="0"/>
              <a:t> :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Génération de story sur la base d’une </a:t>
            </a:r>
            <a:r>
              <a:rPr lang="fr-FR" sz="1800" b="0" dirty="0" err="1">
                <a:latin typeface="Arial"/>
              </a:rPr>
              <a:t>decklist</a:t>
            </a:r>
            <a:endParaRPr lang="fr-FR" sz="1800" b="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Génération vidéo sur la base d’une </a:t>
            </a:r>
            <a:r>
              <a:rPr lang="fr-FR" sz="1800" b="0" dirty="0" err="1">
                <a:latin typeface="Arial"/>
              </a:rPr>
              <a:t>decklist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Mini jeu « Trouver la carte »</a:t>
            </a:r>
            <a:endParaRPr lang="fr-FR" sz="1800" b="0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SCRAP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sz="1800" b="0" dirty="0" err="1">
                <a:latin typeface="Arial"/>
              </a:rPr>
              <a:t>Decklists</a:t>
            </a:r>
            <a:r>
              <a:rPr sz="1800" b="0" dirty="0">
                <a:latin typeface="Arial"/>
              </a:rPr>
              <a:t> : </a:t>
            </a:r>
            <a:r>
              <a:rPr sz="1800" b="0" dirty="0" err="1">
                <a:latin typeface="Arial"/>
              </a:rPr>
              <a:t>Moxfield</a:t>
            </a:r>
            <a:r>
              <a:rPr sz="1800" b="0" dirty="0">
                <a:latin typeface="Arial"/>
              </a:rPr>
              <a:t>, </a:t>
            </a:r>
            <a:r>
              <a:rPr sz="1800" b="0" dirty="0" err="1">
                <a:latin typeface="Arial"/>
              </a:rPr>
              <a:t>EDHRec</a:t>
            </a:r>
            <a:r>
              <a:rPr sz="1800" b="0" dirty="0">
                <a:latin typeface="Arial"/>
              </a:rPr>
              <a:t>, </a:t>
            </a:r>
            <a:r>
              <a:rPr sz="1800" b="0" dirty="0" err="1">
                <a:latin typeface="Arial"/>
              </a:rPr>
              <a:t>MTGGoldfish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b="0" dirty="0">
                <a:latin typeface="Arial"/>
              </a:rPr>
              <a:t>Obtenir sur de data actualisée</a:t>
            </a:r>
          </a:p>
          <a:p>
            <a:pPr lvl="1"/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Cartes : </a:t>
            </a:r>
            <a:r>
              <a:rPr sz="1800" b="0" dirty="0" err="1">
                <a:latin typeface="Arial"/>
              </a:rPr>
              <a:t>Scryfall</a:t>
            </a:r>
            <a:r>
              <a:rPr sz="1800" b="0" dirty="0">
                <a:latin typeface="Arial"/>
              </a:rPr>
              <a:t> API (</a:t>
            </a:r>
            <a:r>
              <a:rPr sz="1800" b="0" dirty="0" err="1">
                <a:latin typeface="Arial"/>
              </a:rPr>
              <a:t>coût</a:t>
            </a:r>
            <a:r>
              <a:rPr sz="1800" b="0" dirty="0">
                <a:latin typeface="Arial"/>
              </a:rPr>
              <a:t>, couleur, </a:t>
            </a:r>
            <a:r>
              <a:rPr sz="1800" b="0" dirty="0" err="1">
                <a:latin typeface="Arial"/>
              </a:rPr>
              <a:t>texte</a:t>
            </a:r>
            <a:r>
              <a:rPr sz="1800" b="0" dirty="0">
                <a:latin typeface="Arial"/>
              </a:rPr>
              <a:t>...)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b="0" dirty="0">
                <a:latin typeface="Arial"/>
                <a:hlinkClick r:id="rId2"/>
              </a:rPr>
              <a:t>https://scryfall.com/docs/api</a:t>
            </a:r>
            <a:endParaRPr lang="fr-FR" sz="140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Combien de temps avant la sortie on a le détail des cartes</a:t>
            </a: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Nom de la carte</a:t>
            </a:r>
          </a:p>
          <a:p>
            <a:r>
              <a:rPr lang="fr-FR" sz="1800" b="0" dirty="0">
                <a:latin typeface="Arial"/>
              </a:rPr>
              <a:t>Quantité</a:t>
            </a:r>
          </a:p>
          <a:p>
            <a:r>
              <a:rPr lang="fr-FR" sz="1800" dirty="0">
                <a:latin typeface="Arial"/>
              </a:rPr>
              <a:t>Commander Y/N</a:t>
            </a:r>
          </a:p>
          <a:p>
            <a:r>
              <a:rPr lang="fr-FR" sz="1800" b="0" dirty="0">
                <a:latin typeface="Arial"/>
              </a:rPr>
              <a:t>Date de </a:t>
            </a:r>
            <a:r>
              <a:rPr lang="fr-FR" sz="1800" b="0" dirty="0" err="1">
                <a:latin typeface="Arial"/>
              </a:rPr>
              <a:t>creation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Date d’update</a:t>
            </a:r>
          </a:p>
          <a:p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Cout du deck</a:t>
            </a:r>
          </a:p>
          <a:p>
            <a:r>
              <a:rPr lang="fr-FR" sz="1800" b="0" dirty="0" err="1">
                <a:latin typeface="Arial"/>
              </a:rPr>
              <a:t>Views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Likes</a:t>
            </a:r>
          </a:p>
          <a:p>
            <a:endParaRPr lang="fr-FR" sz="1800" dirty="0">
              <a:latin typeface="Arial"/>
            </a:endParaRPr>
          </a:p>
          <a:p>
            <a:r>
              <a:rPr lang="fr-FR" sz="1800" dirty="0">
                <a:latin typeface="Arial"/>
              </a:rPr>
              <a:t>Lore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88E8C-2362-596D-F454-C468115D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Amélioration de deck existant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36F07-219C-464B-AF80-18150BE2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143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C0FD3-679E-44D4-791A-A09096A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Content base vs Collaborative </a:t>
            </a:r>
            <a:r>
              <a:rPr lang="fr-FR" dirty="0" err="1"/>
              <a:t>filtering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D085A-B861-C58D-CBB0-AFF920CB1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Popularité</a:t>
            </a:r>
          </a:p>
          <a:p>
            <a:pPr lvl="1"/>
            <a:r>
              <a:rPr lang="fr-FR" dirty="0"/>
              <a:t>Par commandant</a:t>
            </a:r>
          </a:p>
          <a:p>
            <a:r>
              <a:rPr lang="fr-FR" dirty="0"/>
              <a:t>Co occurrence (Combos, paires de cartes)</a:t>
            </a:r>
          </a:p>
          <a:p>
            <a:r>
              <a:rPr lang="fr-FR" dirty="0"/>
              <a:t>Content base</a:t>
            </a:r>
          </a:p>
          <a:p>
            <a:pPr lvl="1"/>
            <a:r>
              <a:rPr lang="fr-FR" dirty="0"/>
              <a:t>Utilisateur = Commandant</a:t>
            </a:r>
          </a:p>
          <a:p>
            <a:r>
              <a:rPr lang="fr-FR" dirty="0" err="1"/>
              <a:t>Two</a:t>
            </a:r>
            <a:r>
              <a:rPr lang="fr-FR" dirty="0"/>
              <a:t>-Tower Model</a:t>
            </a:r>
          </a:p>
          <a:p>
            <a:pPr lvl="1"/>
            <a:r>
              <a:rPr lang="fr-FR" dirty="0"/>
              <a:t>Tour de gauche Commandant (Data du </a:t>
            </a:r>
            <a:r>
              <a:rPr lang="fr-FR" dirty="0" err="1"/>
              <a:t>scrapping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Tour de droite Cartes (Dara du </a:t>
            </a:r>
            <a:r>
              <a:rPr lang="fr-FR" dirty="0" err="1"/>
              <a:t>Json</a:t>
            </a:r>
            <a:r>
              <a:rPr lang="fr-FR" dirty="0"/>
              <a:t> et </a:t>
            </a:r>
            <a:r>
              <a:rPr lang="fr-FR" dirty="0" err="1"/>
              <a:t>scryfall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448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2D04D-89F2-FD56-291E-43D0211B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Content base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973296-9BCB-EE29-6A2B-214425F5C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Utilisateur = Commandant</a:t>
            </a:r>
          </a:p>
          <a:p>
            <a:r>
              <a:rPr lang="fr-FR" dirty="0"/>
              <a:t>Profil commandant</a:t>
            </a:r>
          </a:p>
          <a:p>
            <a:pPr lvl="1"/>
            <a:r>
              <a:rPr lang="fr-FR" dirty="0"/>
              <a:t>Archétype Commandant</a:t>
            </a:r>
          </a:p>
          <a:p>
            <a:pPr lvl="1"/>
            <a:r>
              <a:rPr lang="fr-FR" dirty="0" err="1"/>
              <a:t>Colors</a:t>
            </a:r>
            <a:endParaRPr lang="fr-FR" dirty="0"/>
          </a:p>
          <a:p>
            <a:r>
              <a:rPr lang="fr-FR" dirty="0"/>
              <a:t>Cartes</a:t>
            </a:r>
          </a:p>
          <a:p>
            <a:pPr lvl="1"/>
            <a:r>
              <a:rPr lang="fr-FR" dirty="0" err="1"/>
              <a:t>Archétique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047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51022-20B0-4BA4-4EB9-386BE1EA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88E8CB-7FE9-7F8C-EAB5-81C738547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Collaborative </a:t>
            </a:r>
            <a:r>
              <a:rPr lang="fr-FR" dirty="0" err="1"/>
              <a:t>filtering</a:t>
            </a:r>
            <a:endParaRPr lang="fr-FR" dirty="0"/>
          </a:p>
          <a:p>
            <a:pPr lvl="1"/>
            <a:r>
              <a:rPr lang="fr-FR" dirty="0"/>
              <a:t>Deux commandants qui pourraient être proches peuvent utiliser des cartes complètement différentes et les suggestions basées sur le proximité des commandants ne paraissent pas pertinentes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571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2EE7B-AC97-F34D-473F-83A4DC53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nécessaires Master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8C659-097D-E33C-3FF3-919B8A25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286500" cy="4525963"/>
          </a:xfrm>
        </p:spPr>
        <p:txBody>
          <a:bodyPr/>
          <a:lstStyle/>
          <a:p>
            <a:r>
              <a:rPr lang="fr-FR" dirty="0">
                <a:hlinkClick r:id="rId2"/>
              </a:rPr>
              <a:t>https://mtgjson.com/data-models/card/card-atomic/</a:t>
            </a:r>
            <a:endParaRPr lang="fr-FR" dirty="0"/>
          </a:p>
          <a:p>
            <a:endParaRPr lang="fr-FR" dirty="0"/>
          </a:p>
          <a:p>
            <a:r>
              <a:rPr lang="fr-FR" sz="3200" b="0" dirty="0">
                <a:latin typeface="Arial"/>
                <a:hlinkClick r:id="rId3"/>
              </a:rPr>
              <a:t>https://scryfall.com/docs/api</a:t>
            </a:r>
            <a:endParaRPr lang="fr-FR" sz="3200" dirty="0">
              <a:latin typeface="Arial"/>
            </a:endParaRPr>
          </a:p>
          <a:p>
            <a:endParaRPr lang="fr-FR" dirty="0"/>
          </a:p>
          <a:p>
            <a:r>
              <a:rPr lang="fr-FR" dirty="0"/>
              <a:t>Regarder les meilleures sources de MD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9EB782C-6236-FF06-E7E9-C4EAF969A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699" y="1720850"/>
            <a:ext cx="1620463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6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C945E-C60D-9B82-D13F-D75327F3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9472-3E60-98C2-8215-A6BDE119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Story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E0FA-3236-01B3-5750-82602DD5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>
                <a:latin typeface="Arial"/>
              </a:rPr>
              <a:t>Lore</a:t>
            </a:r>
          </a:p>
        </p:txBody>
      </p:sp>
    </p:spTree>
    <p:extLst>
      <p:ext uri="{BB962C8B-B14F-4D97-AF65-F5344CB8AC3E}">
        <p14:creationId xmlns:p14="http://schemas.microsoft.com/office/powerpoint/2010/main" val="46071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4375-EE33-7F90-43FA-00C4A811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E825-4C0A-D4F1-D424-959336F4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Données </a:t>
            </a:r>
            <a:r>
              <a:rPr dirty="0" err="1"/>
              <a:t>nécessaires</a:t>
            </a:r>
            <a:r>
              <a:rPr lang="fr-FR" dirty="0"/>
              <a:t> Game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33CF-3CBC-08F0-B5A9-23FAC63F6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>
                <a:latin typeface="Arial"/>
              </a:rPr>
              <a:t>Lore</a:t>
            </a:r>
          </a:p>
        </p:txBody>
      </p:sp>
    </p:spTree>
    <p:extLst>
      <p:ext uri="{BB962C8B-B14F-4D97-AF65-F5344CB8AC3E}">
        <p14:creationId xmlns:p14="http://schemas.microsoft.com/office/powerpoint/2010/main" val="3594515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Modélisation</a:t>
            </a:r>
            <a:r>
              <a:rPr dirty="0"/>
              <a:t> du </a:t>
            </a:r>
            <a:r>
              <a:rPr dirty="0" err="1"/>
              <a:t>problème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dirty="0"/>
          </a:p>
          <a:p>
            <a:r>
              <a:rPr sz="1800" b="0" dirty="0">
                <a:latin typeface="Arial"/>
              </a:rPr>
              <a:t>Collaborative Filtering : cooccurrence entre decks</a:t>
            </a:r>
            <a:endParaRPr lang="fr-FR" sz="1800" b="0" dirty="0">
              <a:latin typeface="Arial"/>
            </a:endParaRP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  <a:endParaRPr lang="fr-FR" sz="180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>
                <a:latin typeface="Arial"/>
              </a:rPr>
              <a:t>Content-Based : </a:t>
            </a:r>
            <a:r>
              <a:rPr sz="1800" b="0" dirty="0" err="1">
                <a:latin typeface="Arial"/>
              </a:rPr>
              <a:t>similarité</a:t>
            </a:r>
            <a:r>
              <a:rPr sz="1800" b="0" dirty="0">
                <a:latin typeface="Arial"/>
              </a:rPr>
              <a:t> entre </a:t>
            </a:r>
            <a:r>
              <a:rPr sz="1800" b="0" dirty="0" err="1">
                <a:latin typeface="Arial"/>
              </a:rPr>
              <a:t>textes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effets</a:t>
            </a:r>
            <a:endParaRPr lang="fr-FR" sz="1800" b="0" dirty="0">
              <a:latin typeface="Arial"/>
            </a:endParaRP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Modèles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hybrides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graphe</a:t>
            </a:r>
            <a:r>
              <a:rPr sz="1800" b="0" dirty="0">
                <a:latin typeface="Arial"/>
              </a:rPr>
              <a:t> de </a:t>
            </a:r>
            <a:r>
              <a:rPr sz="1800" b="0" dirty="0" err="1">
                <a:latin typeface="Arial"/>
              </a:rPr>
              <a:t>synergie</a:t>
            </a:r>
            <a:r>
              <a:rPr sz="1800" b="0" dirty="0">
                <a:latin typeface="Arial"/>
              </a:rPr>
              <a:t> (Node2Vec)</a:t>
            </a:r>
            <a:endParaRPr lang="fr-FR" sz="1800" b="0" dirty="0">
              <a:latin typeface="Arial"/>
            </a:endParaRPr>
          </a:p>
          <a:p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  <a:p>
            <a:endParaRPr lang="fr-FR" sz="1800" b="0" dirty="0">
              <a:latin typeface="Arial"/>
            </a:endParaRPr>
          </a:p>
          <a:p>
            <a:endParaRPr sz="1800" b="0" dirty="0">
              <a:latin typeface="Arial"/>
            </a:endParaRPr>
          </a:p>
          <a:p>
            <a:r>
              <a:rPr sz="1800" b="0" dirty="0">
                <a:latin typeface="Arial"/>
              </a:rPr>
              <a:t>Deep </a:t>
            </a:r>
            <a:r>
              <a:rPr sz="1800" b="0" dirty="0" err="1">
                <a:latin typeface="Arial"/>
              </a:rPr>
              <a:t>learnin</a:t>
            </a:r>
            <a:r>
              <a:rPr lang="fr-FR" sz="1800" b="0" dirty="0">
                <a:latin typeface="Arial"/>
              </a:rPr>
              <a:t>g : NLP ou GNN pour synergies complexes</a:t>
            </a:r>
          </a:p>
          <a:p>
            <a:pPr marL="0" indent="0">
              <a:buNone/>
            </a:pPr>
            <a:endParaRPr lang="fr-FR" sz="1800" b="0" dirty="0">
              <a:latin typeface="Arial"/>
            </a:endParaRP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Amélioration de deck existant</a:t>
            </a:r>
          </a:p>
          <a:p>
            <a:pPr marL="0" indent="0">
              <a:buNone/>
            </a:pPr>
            <a:r>
              <a:rPr lang="fr-FR" sz="1800" dirty="0">
                <a:latin typeface="Arial"/>
              </a:rPr>
              <a:t>Création de decks en fonction commandant </a:t>
            </a:r>
          </a:p>
          <a:p>
            <a:pPr lvl="1"/>
            <a:r>
              <a:rPr lang="fr-FR" sz="1400" b="0" dirty="0">
                <a:latin typeface="Arial"/>
              </a:rPr>
              <a:t>Budget</a:t>
            </a:r>
          </a:p>
          <a:p>
            <a:pPr lvl="1"/>
            <a:r>
              <a:rPr lang="fr-FR" sz="1400" dirty="0">
                <a:latin typeface="Arial"/>
              </a:rPr>
              <a:t>Stratégies</a:t>
            </a:r>
          </a:p>
          <a:p>
            <a:pPr marL="0" indent="0">
              <a:buNone/>
            </a:pPr>
            <a:r>
              <a:rPr lang="fr-FR" sz="1800" b="0" dirty="0">
                <a:latin typeface="Arial"/>
              </a:rPr>
              <a:t>Préconisation de cartes à venir</a:t>
            </a:r>
          </a:p>
          <a:p>
            <a:pPr lvl="1"/>
            <a:r>
              <a:rPr lang="fr-FR" sz="1400" b="0" dirty="0">
                <a:latin typeface="Arial"/>
              </a:rPr>
              <a:t>Citer les cartes à retirer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F3D8D82-1984-B6DC-EF64-F6358FA77C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9292330"/>
              </p:ext>
            </p:extLst>
          </p:nvPr>
        </p:nvGraphicFramePr>
        <p:xfrm>
          <a:off x="3619500" y="2025650"/>
          <a:ext cx="5226050" cy="343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 b="0">
                <a:latin typeface="Arial"/>
              </a:rPr>
              <a:t>Masquer 10% d’un deck et tenter de le compléter</a:t>
            </a:r>
          </a:p>
          <a:p>
            <a:r>
              <a:rPr sz="1800" b="0">
                <a:latin typeface="Arial"/>
              </a:rPr>
              <a:t>Utiliser précision, rappel, NDCG</a:t>
            </a:r>
          </a:p>
          <a:p>
            <a:r>
              <a:rPr sz="1800" b="0">
                <a:latin typeface="Arial"/>
              </a:rPr>
              <a:t>Recueillir des retours de vrais joueurs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Pipeline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1800" b="0" dirty="0" err="1">
                <a:latin typeface="Arial"/>
              </a:rPr>
              <a:t>Collecte</a:t>
            </a:r>
            <a:endParaRPr lang="fr-FR" sz="1800" dirty="0">
              <a:latin typeface="Arial"/>
            </a:endParaRPr>
          </a:p>
          <a:p>
            <a:r>
              <a:rPr lang="fr-FR" sz="1800" b="0" dirty="0">
                <a:latin typeface="Arial"/>
              </a:rPr>
              <a:t>N</a:t>
            </a:r>
            <a:r>
              <a:rPr sz="1800" b="0" dirty="0" err="1">
                <a:latin typeface="Arial"/>
              </a:rPr>
              <a:t>ettoyage</a:t>
            </a:r>
            <a:r>
              <a:rPr sz="1800" b="0" dirty="0">
                <a:latin typeface="Arial"/>
              </a:rPr>
              <a:t> des données</a:t>
            </a:r>
          </a:p>
          <a:p>
            <a:r>
              <a:rPr sz="1800" b="0" dirty="0">
                <a:latin typeface="Arial"/>
              </a:rPr>
              <a:t>Feature engineering </a:t>
            </a:r>
            <a:endParaRPr lang="fr-FR" sz="1800" b="0" dirty="0">
              <a:latin typeface="Arial"/>
            </a:endParaRPr>
          </a:p>
          <a:p>
            <a:r>
              <a:rPr lang="fr-FR" sz="1800" dirty="0">
                <a:latin typeface="Arial"/>
              </a:rPr>
              <a:t>Stockage DB</a:t>
            </a:r>
          </a:p>
          <a:p>
            <a:pPr lvl="1"/>
            <a:r>
              <a:rPr lang="fr-FR" sz="1400" dirty="0">
                <a:latin typeface="Arial"/>
              </a:rPr>
              <a:t>Google drive stockage CSV DECKLIST</a:t>
            </a:r>
          </a:p>
          <a:p>
            <a:pPr lvl="1"/>
            <a:r>
              <a:rPr lang="fr-FR" sz="1400" b="0" dirty="0" err="1">
                <a:latin typeface="Arial"/>
              </a:rPr>
              <a:t>Postgre</a:t>
            </a:r>
            <a:r>
              <a:rPr lang="fr-FR" sz="1400" b="0" dirty="0">
                <a:latin typeface="Arial"/>
              </a:rPr>
              <a:t> = DB SQL</a:t>
            </a:r>
          </a:p>
          <a:p>
            <a:pPr lvl="2"/>
            <a:r>
              <a:rPr lang="fr-FR" sz="1000" dirty="0">
                <a:latin typeface="Arial"/>
              </a:rPr>
              <a:t>Control</a:t>
            </a:r>
          </a:p>
          <a:p>
            <a:pPr lvl="2"/>
            <a:r>
              <a:rPr lang="fr-FR" sz="1000" b="0" dirty="0">
                <a:latin typeface="Arial"/>
              </a:rPr>
              <a:t>Vérification de duplicata</a:t>
            </a:r>
            <a:endParaRPr sz="10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Modèle</a:t>
            </a:r>
            <a:r>
              <a:rPr sz="1800" b="0" dirty="0">
                <a:latin typeface="Arial"/>
              </a:rPr>
              <a:t> de recommendation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GITHUB = Stockage des scripts qui interagissent avec le model</a:t>
            </a:r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Interface (API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interface web)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Interface input</a:t>
            </a:r>
          </a:p>
          <a:p>
            <a:pPr lvl="1"/>
            <a:r>
              <a:rPr lang="fr-FR" sz="1400" b="0" dirty="0">
                <a:latin typeface="Arial"/>
              </a:rPr>
              <a:t>Interface output site web ou app</a:t>
            </a:r>
            <a:endParaRPr sz="14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Déploiement</a:t>
            </a:r>
            <a:r>
              <a:rPr sz="1800" b="0" dirty="0">
                <a:latin typeface="Arial"/>
              </a:rPr>
              <a:t> (Docker, cloud)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Interface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1800" b="0" dirty="0">
                <a:latin typeface="Arial"/>
              </a:rPr>
              <a:t>Interface Flask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Streamlit</a:t>
            </a:r>
            <a:endParaRPr lang="fr-FR" sz="1800" b="0" dirty="0">
              <a:latin typeface="Arial"/>
            </a:endParaRPr>
          </a:p>
          <a:p>
            <a:pPr lvl="1"/>
            <a:r>
              <a:rPr lang="fr-FR" sz="1400" dirty="0">
                <a:latin typeface="Arial"/>
              </a:rPr>
              <a:t>Python compatible HTML pour Front end</a:t>
            </a:r>
            <a:endParaRPr sz="1400" b="0" dirty="0">
              <a:latin typeface="Arial"/>
            </a:endParaRPr>
          </a:p>
          <a:p>
            <a:r>
              <a:rPr sz="1800" b="0" dirty="0">
                <a:latin typeface="Arial"/>
              </a:rPr>
              <a:t>Upload deck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copier-</a:t>
            </a:r>
            <a:r>
              <a:rPr sz="1800" b="0" dirty="0" err="1">
                <a:latin typeface="Arial"/>
              </a:rPr>
              <a:t>coller</a:t>
            </a:r>
            <a:endParaRPr sz="1800" b="0" dirty="0">
              <a:latin typeface="Arial"/>
            </a:endParaRPr>
          </a:p>
          <a:p>
            <a:r>
              <a:rPr sz="1800" b="0" dirty="0" err="1">
                <a:latin typeface="Arial"/>
              </a:rPr>
              <a:t>Afficher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recommandations</a:t>
            </a:r>
            <a:r>
              <a:rPr sz="1800" b="0" dirty="0">
                <a:latin typeface="Arial"/>
              </a:rPr>
              <a:t> + images</a:t>
            </a:r>
          </a:p>
          <a:p>
            <a:r>
              <a:rPr sz="1800" b="0" dirty="0">
                <a:latin typeface="Arial"/>
              </a:rPr>
              <a:t>Export CSV </a:t>
            </a:r>
            <a:r>
              <a:rPr sz="1800" b="0" dirty="0" err="1">
                <a:latin typeface="Arial"/>
              </a:rPr>
              <a:t>ou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vers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Moxfield</a:t>
            </a:r>
            <a:endParaRPr sz="1800" b="0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5B96E-3A42-D137-D247-AAF67F78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Amélioration de deck existant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9C4143F-7AEF-4127-AB22-793511083341}"/>
              </a:ext>
            </a:extLst>
          </p:cNvPr>
          <p:cNvSpPr txBox="1">
            <a:spLocks/>
          </p:cNvSpPr>
          <p:nvPr/>
        </p:nvSpPr>
        <p:spPr>
          <a:xfrm>
            <a:off x="4711699" y="1410444"/>
            <a:ext cx="4304219" cy="14497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3AF4317-3338-7598-EF24-0004AF9679EB}"/>
              </a:ext>
            </a:extLst>
          </p:cNvPr>
          <p:cNvSpPr txBox="1">
            <a:spLocks/>
          </p:cNvSpPr>
          <p:nvPr/>
        </p:nvSpPr>
        <p:spPr>
          <a:xfrm>
            <a:off x="609599" y="1407556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AE6BE91-FEA0-6EEB-ABF6-8E018739E129}"/>
              </a:ext>
            </a:extLst>
          </p:cNvPr>
          <p:cNvSpPr txBox="1">
            <a:spLocks/>
          </p:cNvSpPr>
          <p:nvPr/>
        </p:nvSpPr>
        <p:spPr>
          <a:xfrm>
            <a:off x="4711700" y="3040182"/>
            <a:ext cx="4304218" cy="14497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6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Top 10 </a:t>
            </a:r>
            <a:r>
              <a:rPr lang="fr-FR" dirty="0" err="1"/>
              <a:t>cards</a:t>
            </a:r>
            <a:r>
              <a:rPr lang="fr-FR" dirty="0"/>
              <a:t> TO BE REMOVED</a:t>
            </a:r>
          </a:p>
          <a:p>
            <a:pPr lvl="1"/>
            <a:endParaRPr lang="fr-FR" dirty="0"/>
          </a:p>
          <a:p>
            <a:pPr lvl="1"/>
            <a:r>
              <a:rPr lang="fr-FR" dirty="0" err="1"/>
              <a:t>Admiral's</a:t>
            </a:r>
            <a:r>
              <a:rPr lang="fr-FR" dirty="0"/>
              <a:t> </a:t>
            </a:r>
            <a:r>
              <a:rPr lang="fr-FR" dirty="0" err="1"/>
              <a:t>Order</a:t>
            </a:r>
            <a:endParaRPr lang="fr-FR" dirty="0"/>
          </a:p>
          <a:p>
            <a:pPr lvl="1"/>
            <a:r>
              <a:rPr lang="fr-FR" dirty="0"/>
              <a:t>PLAIN</a:t>
            </a:r>
          </a:p>
          <a:p>
            <a:pPr lvl="1"/>
            <a:r>
              <a:rPr lang="fr-FR" dirty="0"/>
              <a:t>…. 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422EC81-94BB-8E66-03C4-583724E98750}"/>
              </a:ext>
            </a:extLst>
          </p:cNvPr>
          <p:cNvSpPr txBox="1">
            <a:spLocks/>
          </p:cNvSpPr>
          <p:nvPr/>
        </p:nvSpPr>
        <p:spPr>
          <a:xfrm>
            <a:off x="609599" y="5328425"/>
            <a:ext cx="1718554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91BA14D-F569-4930-9BB2-18B95E964034}"/>
              </a:ext>
            </a:extLst>
          </p:cNvPr>
          <p:cNvSpPr txBox="1">
            <a:spLocks/>
          </p:cNvSpPr>
          <p:nvPr/>
        </p:nvSpPr>
        <p:spPr>
          <a:xfrm>
            <a:off x="4711700" y="4669920"/>
            <a:ext cx="4304219" cy="14497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2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fr-FR" dirty="0"/>
              <a:t>Top Synergie / Combo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SOL RING</a:t>
            </a:r>
          </a:p>
          <a:p>
            <a:pPr lvl="1"/>
            <a:r>
              <a:rPr lang="fr-FR" dirty="0"/>
              <a:t>PLAIN</a:t>
            </a:r>
          </a:p>
          <a:p>
            <a:pPr lvl="1"/>
            <a:r>
              <a:rPr lang="fr-FR" dirty="0"/>
              <a:t>…. 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B1C7DD7D-691E-647F-CD6C-5C30F753769E}"/>
              </a:ext>
            </a:extLst>
          </p:cNvPr>
          <p:cNvSpPr txBox="1">
            <a:spLocks/>
          </p:cNvSpPr>
          <p:nvPr/>
        </p:nvSpPr>
        <p:spPr>
          <a:xfrm>
            <a:off x="2637545" y="5328426"/>
            <a:ext cx="1718554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Pauper</a:t>
            </a:r>
            <a:endParaRPr lang="fr-FR" sz="2000" dirty="0"/>
          </a:p>
          <a:p>
            <a:pPr lvl="1"/>
            <a:r>
              <a:rPr lang="fr-FR" sz="1200" dirty="0"/>
              <a:t>Yes</a:t>
            </a:r>
          </a:p>
          <a:p>
            <a:pPr lvl="1"/>
            <a:r>
              <a:rPr lang="fr-FR" sz="1200" dirty="0"/>
              <a:t>No</a:t>
            </a:r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700A7-4EBE-F397-F430-86E2E8A81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49" y="4554640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7706290-00FE-5C56-29E4-8929D044F746}"/>
              </a:ext>
            </a:extLst>
          </p:cNvPr>
          <p:cNvSpPr txBox="1">
            <a:spLocks/>
          </p:cNvSpPr>
          <p:nvPr/>
        </p:nvSpPr>
        <p:spPr>
          <a:xfrm>
            <a:off x="4711698" y="6299658"/>
            <a:ext cx="4304219" cy="39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/>
              <a:buChar char="–"/>
              <a:defRPr sz="12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fr-FR" dirty="0" err="1"/>
              <a:t>Average</a:t>
            </a:r>
            <a:r>
              <a:rPr lang="fr-FR" dirty="0"/>
              <a:t> Land vs </a:t>
            </a:r>
            <a:r>
              <a:rPr lang="fr-FR" dirty="0" err="1"/>
              <a:t>Your</a:t>
            </a:r>
            <a:r>
              <a:rPr lang="fr-FR" dirty="0"/>
              <a:t> deck lands </a:t>
            </a:r>
          </a:p>
        </p:txBody>
      </p:sp>
    </p:spTree>
    <p:extLst>
      <p:ext uri="{BB962C8B-B14F-4D97-AF65-F5344CB8AC3E}">
        <p14:creationId xmlns:p14="http://schemas.microsoft.com/office/powerpoint/2010/main" val="3620365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1FBB9-263E-F95A-E093-D33FDA37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Arial"/>
              </a:rPr>
              <a:t>Création de decks en fonction commandant 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21BDBE9-1729-C3FF-836F-4C30E23B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8722BA0-BF65-A428-CB96-DF983A57E59A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8582F0B-EA33-B793-A83F-BDCAA173ACF0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7643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Commander</a:t>
            </a:r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6A24CDF-04CB-5238-CB71-6572A5B8DECD}"/>
              </a:ext>
            </a:extLst>
          </p:cNvPr>
          <p:cNvSpPr txBox="1">
            <a:spLocks/>
          </p:cNvSpPr>
          <p:nvPr/>
        </p:nvSpPr>
        <p:spPr>
          <a:xfrm>
            <a:off x="609600" y="4718050"/>
            <a:ext cx="2324100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CFBE1F2-4875-7589-FDF0-E0D4C731C10D}"/>
              </a:ext>
            </a:extLst>
          </p:cNvPr>
          <p:cNvSpPr txBox="1">
            <a:spLocks/>
          </p:cNvSpPr>
          <p:nvPr/>
        </p:nvSpPr>
        <p:spPr>
          <a:xfrm>
            <a:off x="7581900" y="2463799"/>
            <a:ext cx="704850" cy="3244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00" dirty="0"/>
              <a:t>User validation</a:t>
            </a:r>
          </a:p>
          <a:p>
            <a:r>
              <a:rPr lang="fr-FR" sz="1000" dirty="0"/>
              <a:t>Y</a:t>
            </a:r>
          </a:p>
          <a:p>
            <a:r>
              <a:rPr lang="fr-FR" sz="1000" dirty="0"/>
              <a:t>N</a:t>
            </a:r>
          </a:p>
          <a:p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009925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C2D76C-C57A-5A3C-1B81-E6FD4AA9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0" dirty="0">
                <a:latin typeface="Arial"/>
              </a:rPr>
              <a:t>Préconisation de cartes à venir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E47D684-E762-BFDA-3DE0-51E8E708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E1E002E-48CD-3929-5485-29571CF036E3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Top 10 </a:t>
            </a:r>
            <a:r>
              <a:rPr lang="fr-FR" sz="2000" dirty="0" err="1"/>
              <a:t>recommended</a:t>
            </a:r>
            <a:r>
              <a:rPr lang="fr-FR" sz="2000" dirty="0"/>
              <a:t> </a:t>
            </a:r>
            <a:r>
              <a:rPr lang="fr-FR" sz="2000" dirty="0" err="1"/>
              <a:t>cards</a:t>
            </a:r>
            <a:endParaRPr lang="fr-FR" sz="2000" dirty="0"/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SOL RING</a:t>
            </a:r>
          </a:p>
          <a:p>
            <a:pPr lvl="1"/>
            <a:r>
              <a:rPr lang="fr-FR" sz="1600" dirty="0"/>
              <a:t>PLAIN</a:t>
            </a:r>
          </a:p>
          <a:p>
            <a:pPr lvl="1"/>
            <a:r>
              <a:rPr lang="fr-FR" sz="1600" dirty="0"/>
              <a:t>….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FD6BBA7-306C-E32E-68A1-775C425F9324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7643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Commander</a:t>
            </a:r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209AA11-1AE6-0FCC-2170-51C3C193D4F2}"/>
              </a:ext>
            </a:extLst>
          </p:cNvPr>
          <p:cNvSpPr txBox="1">
            <a:spLocks/>
          </p:cNvSpPr>
          <p:nvPr/>
        </p:nvSpPr>
        <p:spPr>
          <a:xfrm>
            <a:off x="609600" y="4718050"/>
            <a:ext cx="2324100" cy="1158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Budget</a:t>
            </a:r>
          </a:p>
          <a:p>
            <a:pPr lvl="1"/>
            <a:r>
              <a:rPr lang="fr-FR" sz="1200" dirty="0"/>
              <a:t>Low</a:t>
            </a:r>
          </a:p>
          <a:p>
            <a:pPr lvl="1"/>
            <a:r>
              <a:rPr lang="fr-FR" sz="1200" dirty="0" err="1"/>
              <a:t>Average</a:t>
            </a:r>
            <a:endParaRPr lang="fr-FR" sz="1200" dirty="0"/>
          </a:p>
          <a:p>
            <a:pPr lvl="1"/>
            <a:r>
              <a:rPr lang="fr-FR" sz="1200" dirty="0"/>
              <a:t>No </a:t>
            </a:r>
            <a:r>
              <a:rPr lang="fr-FR" sz="1200" dirty="0" err="1"/>
              <a:t>limit</a:t>
            </a:r>
            <a:endParaRPr lang="fr-FR" sz="12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20662E0-2621-9822-8D90-C0ED8C1826B0}"/>
              </a:ext>
            </a:extLst>
          </p:cNvPr>
          <p:cNvSpPr txBox="1">
            <a:spLocks/>
          </p:cNvSpPr>
          <p:nvPr/>
        </p:nvSpPr>
        <p:spPr>
          <a:xfrm>
            <a:off x="7581900" y="2463799"/>
            <a:ext cx="704850" cy="3244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00" dirty="0"/>
              <a:t>User validation</a:t>
            </a:r>
          </a:p>
          <a:p>
            <a:r>
              <a:rPr lang="fr-FR" sz="1000" dirty="0"/>
              <a:t>Y</a:t>
            </a:r>
          </a:p>
          <a:p>
            <a:r>
              <a:rPr lang="fr-FR" sz="1000" dirty="0"/>
              <a:t>N</a:t>
            </a:r>
          </a:p>
          <a:p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2825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959ED-5D21-DF5E-62AA-13506AE6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0" dirty="0">
                <a:latin typeface="Arial"/>
              </a:rPr>
              <a:t>Génération de story sur la base d’une </a:t>
            </a:r>
            <a:r>
              <a:rPr lang="fr-FR" sz="4400" b="0" dirty="0" err="1">
                <a:latin typeface="Arial"/>
              </a:rPr>
              <a:t>decklist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DF3286F-6F42-59AB-3A64-BA545053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9AFEB86-3A6F-9FC7-46CF-EE29921B6D1D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F66361FA-A844-F48A-3ACF-4508F008796F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000" dirty="0"/>
              <a:t>Story</a:t>
            </a:r>
          </a:p>
          <a:p>
            <a:endParaRPr lang="fr-FR" sz="1600" dirty="0"/>
          </a:p>
          <a:p>
            <a:pPr marL="0" indent="0">
              <a:buNone/>
            </a:pPr>
            <a:r>
              <a:rPr lang="fr-FR" sz="2000" dirty="0"/>
              <a:t>"Les Larmes de l'</a:t>
            </a:r>
            <a:r>
              <a:rPr lang="fr-FR" sz="2000" dirty="0" err="1"/>
              <a:t>Oeil</a:t>
            </a:r>
            <a:r>
              <a:rPr lang="fr-FR" sz="2000" dirty="0"/>
              <a:t> </a:t>
            </a:r>
            <a:r>
              <a:rPr lang="fr-FR" sz="2000" dirty="0" err="1"/>
              <a:t>Azuré"Dans</a:t>
            </a:r>
            <a:r>
              <a:rPr lang="fr-FR" sz="2000" dirty="0"/>
              <a:t> un coin oublié du Multivers, les flots rugissent autour d’un archipel dissimulé par les brumes du </a:t>
            </a:r>
            <a:r>
              <a:rPr lang="fr-FR" sz="2000" dirty="0" err="1"/>
              <a:t>Rogue's</a:t>
            </a:r>
            <a:r>
              <a:rPr lang="fr-FR" sz="2000" dirty="0"/>
              <a:t> Passage. Ces eaux sont le territoire des pirates, gouvernées par </a:t>
            </a:r>
            <a:r>
              <a:rPr lang="fr-FR" sz="2000" dirty="0" err="1"/>
              <a:t>Admiral</a:t>
            </a:r>
            <a:r>
              <a:rPr lang="fr-FR" sz="2000" dirty="0"/>
              <a:t> </a:t>
            </a:r>
            <a:r>
              <a:rPr lang="fr-FR" sz="2000" dirty="0" err="1"/>
              <a:t>Brass</a:t>
            </a:r>
            <a:r>
              <a:rPr lang="fr-FR" sz="2000" dirty="0"/>
              <a:t>, </a:t>
            </a:r>
            <a:r>
              <a:rPr lang="fr-FR" sz="2000" dirty="0" err="1"/>
              <a:t>Unsinkable</a:t>
            </a:r>
            <a:r>
              <a:rPr lang="fr-FR" sz="2000" dirty="0"/>
              <a:t>, capitaine d’une flotte hétéroclite de pillards, de revenants et de créatures mutées par la mer elle-même. À son côté, ses seconds de légende : </a:t>
            </a:r>
            <a:r>
              <a:rPr lang="fr-FR" sz="2000" dirty="0" err="1"/>
              <a:t>Breeches</a:t>
            </a:r>
            <a:r>
              <a:rPr lang="fr-FR" sz="2000" dirty="0"/>
              <a:t>, the </a:t>
            </a:r>
            <a:r>
              <a:rPr lang="fr-FR" sz="2000" dirty="0" err="1"/>
              <a:t>Blastmaker</a:t>
            </a:r>
            <a:r>
              <a:rPr lang="fr-FR" sz="2000" dirty="0"/>
              <a:t>, et Malcolm, the </a:t>
            </a:r>
            <a:r>
              <a:rPr lang="fr-FR" sz="2000" dirty="0" err="1"/>
              <a:t>Eyes</a:t>
            </a:r>
            <a:r>
              <a:rPr lang="fr-FR" sz="2000" dirty="0"/>
              <a:t>, une étrange alliance entre brutalité et ruse </a:t>
            </a:r>
            <a:r>
              <a:rPr lang="fr-FR" sz="2000" dirty="0" err="1"/>
              <a:t>ailée.Leur</a:t>
            </a:r>
            <a:r>
              <a:rPr lang="fr-FR" sz="2000" dirty="0"/>
              <a:t> objectif : découvrir la </a:t>
            </a:r>
            <a:r>
              <a:rPr lang="fr-FR" sz="2000" dirty="0" err="1"/>
              <a:t>Treasure</a:t>
            </a:r>
            <a:r>
              <a:rPr lang="fr-FR" sz="2000" dirty="0"/>
              <a:t> Vault, un sanctuaire englouti contenant l’artefact mythique </a:t>
            </a:r>
            <a:r>
              <a:rPr lang="fr-FR" sz="2000" dirty="0" err="1"/>
              <a:t>Mechanized</a:t>
            </a:r>
            <a:r>
              <a:rPr lang="fr-FR" sz="2000" dirty="0"/>
              <a:t> Production, capable de transformer chaque trésor en armée. Mais l’artefact est protégé par une malédiction : Revel in Riches. Quiconque le touche sans offrir un tribut de sang est consumé par ses propres </a:t>
            </a:r>
            <a:r>
              <a:rPr lang="fr-FR" sz="2000" dirty="0" err="1"/>
              <a:t>désirs.Le</a:t>
            </a:r>
            <a:r>
              <a:rPr lang="fr-FR" sz="2000" dirty="0"/>
              <a:t> périple commence à Command Tower, où la rumeur du trésor est transmise par </a:t>
            </a:r>
            <a:r>
              <a:rPr lang="fr-FR" sz="2000" dirty="0" err="1"/>
              <a:t>Crafty</a:t>
            </a:r>
            <a:r>
              <a:rPr lang="fr-FR" sz="2000" dirty="0"/>
              <a:t> </a:t>
            </a:r>
            <a:r>
              <a:rPr lang="fr-FR" sz="2000" dirty="0" err="1"/>
              <a:t>Cutpurse</a:t>
            </a:r>
            <a:r>
              <a:rPr lang="fr-FR" sz="2000" dirty="0"/>
              <a:t>, un espion égaré du </a:t>
            </a:r>
            <a:r>
              <a:rPr lang="fr-FR" sz="2000" dirty="0" err="1"/>
              <a:t>Dimir</a:t>
            </a:r>
            <a:r>
              <a:rPr lang="fr-FR" sz="2000" dirty="0"/>
              <a:t> Signet. En route, la flotte traverse les abysses hantés de </a:t>
            </a:r>
            <a:r>
              <a:rPr lang="fr-FR" sz="2000" dirty="0" err="1"/>
              <a:t>Takenuma</a:t>
            </a:r>
            <a:r>
              <a:rPr lang="fr-FR" sz="2000" dirty="0"/>
              <a:t>, </a:t>
            </a:r>
            <a:r>
              <a:rPr lang="fr-FR" sz="2000" dirty="0" err="1"/>
              <a:t>Abandoned</a:t>
            </a:r>
            <a:r>
              <a:rPr lang="fr-FR" sz="2000" dirty="0"/>
              <a:t> Mire, affronte les illusions des Temple of </a:t>
            </a:r>
            <a:r>
              <a:rPr lang="fr-FR" sz="2000" dirty="0" err="1"/>
              <a:t>Deceit</a:t>
            </a:r>
            <a:r>
              <a:rPr lang="fr-FR" sz="2000" dirty="0"/>
              <a:t>, et croise les golems réveillés d’</a:t>
            </a:r>
            <a:r>
              <a:rPr lang="fr-FR" sz="2000" dirty="0" err="1"/>
              <a:t>Urza’s</a:t>
            </a:r>
            <a:r>
              <a:rPr lang="fr-FR" sz="2000" dirty="0"/>
              <a:t> </a:t>
            </a:r>
            <a:r>
              <a:rPr lang="fr-FR" sz="2000" dirty="0" err="1"/>
              <a:t>Incubator.Mais</a:t>
            </a:r>
            <a:r>
              <a:rPr lang="fr-FR" sz="2000" dirty="0"/>
              <a:t> dans l’ombre, un autre pirate agit : </a:t>
            </a:r>
            <a:r>
              <a:rPr lang="fr-FR" sz="2000" dirty="0" err="1"/>
              <a:t>Ragavan</a:t>
            </a:r>
            <a:r>
              <a:rPr lang="fr-FR" sz="2000" dirty="0"/>
              <a:t>, </a:t>
            </a:r>
            <a:r>
              <a:rPr lang="fr-FR" sz="2000" dirty="0" err="1"/>
              <a:t>Nimble</a:t>
            </a:r>
            <a:r>
              <a:rPr lang="fr-FR" sz="2000" dirty="0"/>
              <a:t> </a:t>
            </a:r>
            <a:r>
              <a:rPr lang="fr-FR" sz="2000" dirty="0" err="1"/>
              <a:t>Pilferer</a:t>
            </a:r>
            <a:r>
              <a:rPr lang="fr-FR" sz="2000" dirty="0"/>
              <a:t>, qui s’empare du journal de bord du capitaine, révélant le secret du </a:t>
            </a:r>
            <a:r>
              <a:rPr lang="fr-FR" sz="2000" dirty="0" err="1"/>
              <a:t>Nephalia</a:t>
            </a:r>
            <a:r>
              <a:rPr lang="fr-FR" sz="2000" dirty="0"/>
              <a:t> </a:t>
            </a:r>
            <a:r>
              <a:rPr lang="fr-FR" sz="2000" dirty="0" err="1"/>
              <a:t>Drownyard</a:t>
            </a:r>
            <a:r>
              <a:rPr lang="fr-FR" sz="2000" dirty="0"/>
              <a:t>, le seul passage vers la chambre immergée. La trahison ne tarde pas. Francisco, </a:t>
            </a:r>
            <a:r>
              <a:rPr lang="fr-FR" sz="2000" dirty="0" err="1"/>
              <a:t>Fowl</a:t>
            </a:r>
            <a:r>
              <a:rPr lang="fr-FR" sz="2000" dirty="0"/>
              <a:t> Marauder, un marin autrefois fidèle, sabote le Port </a:t>
            </a:r>
            <a:r>
              <a:rPr lang="fr-FR" sz="2000" dirty="0" err="1"/>
              <a:t>Razer</a:t>
            </a:r>
            <a:r>
              <a:rPr lang="fr-FR" sz="2000" dirty="0"/>
              <a:t> à la solde de </a:t>
            </a:r>
            <a:r>
              <a:rPr lang="fr-FR" sz="2000" dirty="0" err="1"/>
              <a:t>Vraska’s</a:t>
            </a:r>
            <a:r>
              <a:rPr lang="fr-FR" sz="2000" dirty="0"/>
              <a:t> </a:t>
            </a:r>
            <a:r>
              <a:rPr lang="fr-FR" sz="2000" dirty="0" err="1"/>
              <a:t>Contempt</a:t>
            </a:r>
            <a:r>
              <a:rPr lang="fr-FR" sz="2000" dirty="0"/>
              <a:t>, une prêtresse assoiffée de </a:t>
            </a:r>
            <a:r>
              <a:rPr lang="fr-FR" sz="2000" dirty="0" err="1"/>
              <a:t>contrôle.Alors</a:t>
            </a:r>
            <a:r>
              <a:rPr lang="fr-FR" sz="2000" dirty="0"/>
              <a:t> que la flotte prend l’eau, </a:t>
            </a:r>
            <a:r>
              <a:rPr lang="fr-FR" sz="2000" dirty="0" err="1"/>
              <a:t>Admiral</a:t>
            </a:r>
            <a:r>
              <a:rPr lang="fr-FR" sz="2000" dirty="0"/>
              <a:t> Beckett </a:t>
            </a:r>
            <a:r>
              <a:rPr lang="fr-FR" sz="2000" dirty="0" err="1"/>
              <a:t>Brass</a:t>
            </a:r>
            <a:r>
              <a:rPr lang="fr-FR" sz="2000" dirty="0"/>
              <a:t> se dresse avec l’autorité d’un mythe : elle invoque les tempêtes de </a:t>
            </a:r>
            <a:r>
              <a:rPr lang="fr-FR" sz="2000" dirty="0" err="1"/>
              <a:t>Cyclonic</a:t>
            </a:r>
            <a:r>
              <a:rPr lang="fr-FR" sz="2000" dirty="0"/>
              <a:t> Rift, libère la magie de </a:t>
            </a:r>
            <a:r>
              <a:rPr lang="fr-FR" sz="2000" dirty="0" err="1"/>
              <a:t>Blasphemous</a:t>
            </a:r>
            <a:r>
              <a:rPr lang="fr-FR" sz="2000" dirty="0"/>
              <a:t> </a:t>
            </a:r>
            <a:r>
              <a:rPr lang="fr-FR" sz="2000" dirty="0" err="1"/>
              <a:t>Act</a:t>
            </a:r>
            <a:r>
              <a:rPr lang="fr-FR" sz="2000" dirty="0"/>
              <a:t>, et réanime les morts via Black </a:t>
            </a:r>
            <a:r>
              <a:rPr lang="fr-FR" sz="2000" dirty="0" err="1"/>
              <a:t>Market</a:t>
            </a:r>
            <a:r>
              <a:rPr lang="fr-FR" sz="2000" dirty="0"/>
              <a:t> Connections. Le ciel s’ouvre, dévoilant The </a:t>
            </a:r>
            <a:r>
              <a:rPr lang="fr-FR" sz="2000" dirty="0" err="1"/>
              <a:t>Indomitable</a:t>
            </a:r>
            <a:r>
              <a:rPr lang="fr-FR" sz="2000" dirty="0"/>
              <a:t>, leur navire-fantôme </a:t>
            </a:r>
            <a:r>
              <a:rPr lang="fr-FR" sz="2000" dirty="0" err="1"/>
              <a:t>légendaire.Dans</a:t>
            </a:r>
            <a:r>
              <a:rPr lang="fr-FR" sz="2000" dirty="0"/>
              <a:t> un ultime assaut, </a:t>
            </a:r>
            <a:r>
              <a:rPr lang="fr-FR" sz="2000" dirty="0" err="1"/>
              <a:t>Jackdaw</a:t>
            </a:r>
            <a:r>
              <a:rPr lang="fr-FR" sz="2000" dirty="0"/>
              <a:t> et Swan Song détournent l’attention des gardiens du sanctuaire, tandis que Zara, </a:t>
            </a:r>
            <a:r>
              <a:rPr lang="fr-FR" sz="2000" dirty="0" err="1"/>
              <a:t>Renegade</a:t>
            </a:r>
            <a:r>
              <a:rPr lang="fr-FR" sz="2000" dirty="0"/>
              <a:t> </a:t>
            </a:r>
            <a:r>
              <a:rPr lang="fr-FR" sz="2000" dirty="0" err="1"/>
              <a:t>Recruiter</a:t>
            </a:r>
            <a:r>
              <a:rPr lang="fr-FR" sz="2000" dirty="0"/>
              <a:t> rallie les créatures englouties. À l’aide de </a:t>
            </a:r>
            <a:r>
              <a:rPr lang="fr-FR" sz="2000" dirty="0" err="1"/>
              <a:t>Urza's</a:t>
            </a:r>
            <a:r>
              <a:rPr lang="fr-FR" sz="2000" dirty="0"/>
              <a:t> </a:t>
            </a:r>
            <a:r>
              <a:rPr lang="fr-FR" sz="2000" dirty="0" err="1"/>
              <a:t>Incubator</a:t>
            </a:r>
            <a:r>
              <a:rPr lang="fr-FR" sz="2000" dirty="0"/>
              <a:t>, l’artefact est enfin </a:t>
            </a:r>
            <a:r>
              <a:rPr lang="fr-FR" sz="2000" dirty="0" err="1"/>
              <a:t>maîtrisé.Mais</a:t>
            </a:r>
            <a:r>
              <a:rPr lang="fr-FR" sz="2000" dirty="0"/>
              <a:t> le prix à payer est lourd. L’âme d’</a:t>
            </a:r>
            <a:r>
              <a:rPr lang="fr-FR" sz="2000" dirty="0" err="1"/>
              <a:t>Admiral</a:t>
            </a:r>
            <a:r>
              <a:rPr lang="fr-FR" sz="2000" dirty="0"/>
              <a:t> </a:t>
            </a:r>
            <a:r>
              <a:rPr lang="fr-FR" sz="2000" dirty="0" err="1"/>
              <a:t>Brass</a:t>
            </a:r>
            <a:r>
              <a:rPr lang="fr-FR" sz="2000" dirty="0"/>
              <a:t> est liée à jamais au sanctuaire, gardienne éternelle de la </a:t>
            </a:r>
            <a:r>
              <a:rPr lang="fr-FR" sz="2000" dirty="0" err="1"/>
              <a:t>Kindred</a:t>
            </a:r>
            <a:r>
              <a:rPr lang="fr-FR" sz="2000" dirty="0"/>
              <a:t> Discovery, veillant sur l’artefact et empêchant que le cycle de cupidité ne recommence.</a:t>
            </a:r>
          </a:p>
        </p:txBody>
      </p:sp>
    </p:spTree>
    <p:extLst>
      <p:ext uri="{BB962C8B-B14F-4D97-AF65-F5344CB8AC3E}">
        <p14:creationId xmlns:p14="http://schemas.microsoft.com/office/powerpoint/2010/main" val="1347927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0F799-748E-6884-E27E-4CAD847F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0" dirty="0">
                <a:latin typeface="Arial"/>
              </a:rPr>
              <a:t>Génération vidéo sur la base d’une </a:t>
            </a:r>
            <a:r>
              <a:rPr lang="fr-FR" sz="4400" b="0" dirty="0" err="1">
                <a:latin typeface="Arial"/>
              </a:rPr>
              <a:t>decklist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5171311-7C9B-B49B-3335-FBE66F1C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050" y="55030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1E5D2AB-F0B9-595C-EFDA-B0C88E66CFA0}"/>
              </a:ext>
            </a:extLst>
          </p:cNvPr>
          <p:cNvSpPr txBox="1">
            <a:spLocks/>
          </p:cNvSpPr>
          <p:nvPr/>
        </p:nvSpPr>
        <p:spPr>
          <a:xfrm>
            <a:off x="609600" y="1883569"/>
            <a:ext cx="3746500" cy="3516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decklist</a:t>
            </a:r>
            <a:endParaRPr lang="fr-FR" sz="2000" dirty="0"/>
          </a:p>
          <a:p>
            <a:endParaRPr lang="fr-FR" sz="2000" dirty="0"/>
          </a:p>
          <a:p>
            <a:pPr lvl="1"/>
            <a:r>
              <a:rPr lang="fr-FR" sz="1600" dirty="0"/>
              <a:t>Adaptive </a:t>
            </a:r>
            <a:r>
              <a:rPr lang="fr-FR" sz="1600" dirty="0" err="1"/>
              <a:t>Automaton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Beckett </a:t>
            </a:r>
            <a:r>
              <a:rPr lang="fr-FR" sz="1600" dirty="0" err="1"/>
              <a:t>Brass</a:t>
            </a:r>
            <a:endParaRPr lang="fr-FR" sz="1600" dirty="0"/>
          </a:p>
          <a:p>
            <a:pPr lvl="1"/>
            <a:r>
              <a:rPr lang="fr-FR" sz="1600" dirty="0" err="1"/>
              <a:t>Admiral</a:t>
            </a:r>
            <a:r>
              <a:rPr lang="fr-FR" sz="1600" dirty="0"/>
              <a:t> </a:t>
            </a:r>
            <a:r>
              <a:rPr lang="fr-FR" sz="1600" dirty="0" err="1"/>
              <a:t>Brass,Unsinkable</a:t>
            </a:r>
            <a:endParaRPr lang="fr-FR" sz="1600" dirty="0"/>
          </a:p>
          <a:p>
            <a:pPr lvl="1"/>
            <a:r>
              <a:rPr lang="fr-FR" sz="1600" dirty="0" err="1"/>
              <a:t>Admiral's</a:t>
            </a:r>
            <a:r>
              <a:rPr lang="fr-FR" sz="1600" dirty="0"/>
              <a:t> </a:t>
            </a:r>
            <a:r>
              <a:rPr lang="fr-FR" sz="1600" dirty="0" err="1"/>
              <a:t>Order</a:t>
            </a:r>
            <a:endParaRPr lang="fr-FR" sz="1600" dirty="0"/>
          </a:p>
          <a:p>
            <a:pPr lvl="1"/>
            <a:r>
              <a:rPr lang="fr-FR" sz="1600" dirty="0" err="1"/>
              <a:t>Adéwalé</a:t>
            </a:r>
            <a:r>
              <a:rPr lang="fr-FR" sz="1600" dirty="0"/>
              <a:t>, Breaker of </a:t>
            </a:r>
            <a:r>
              <a:rPr lang="fr-FR" sz="1600" dirty="0" err="1"/>
              <a:t>Chains</a:t>
            </a:r>
            <a:endParaRPr lang="fr-FR" sz="1600" dirty="0"/>
          </a:p>
          <a:p>
            <a:pPr lvl="1"/>
            <a:r>
              <a:rPr lang="fr-FR" sz="1600" dirty="0"/>
              <a:t>Arcane Signet</a:t>
            </a:r>
          </a:p>
          <a:p>
            <a:pPr lvl="1"/>
            <a:r>
              <a:rPr lang="fr-FR" sz="1600" dirty="0"/>
              <a:t>Bident of </a:t>
            </a:r>
            <a:r>
              <a:rPr lang="fr-FR" sz="1600" dirty="0" err="1"/>
              <a:t>Thassa</a:t>
            </a:r>
            <a:endParaRPr lang="fr-FR" sz="1600" dirty="0"/>
          </a:p>
          <a:p>
            <a:pPr lvl="1"/>
            <a:r>
              <a:rPr lang="fr-FR" sz="1600" dirty="0"/>
              <a:t>Black </a:t>
            </a:r>
            <a:r>
              <a:rPr lang="fr-FR" sz="1600" dirty="0" err="1"/>
              <a:t>Market</a:t>
            </a:r>
            <a:r>
              <a:rPr lang="fr-FR" sz="1600" dirty="0"/>
              <a:t> Connections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6EEB8DB-9FFD-EF80-F76F-BE4F292BE9BA}"/>
              </a:ext>
            </a:extLst>
          </p:cNvPr>
          <p:cNvSpPr txBox="1">
            <a:spLocks/>
          </p:cNvSpPr>
          <p:nvPr/>
        </p:nvSpPr>
        <p:spPr>
          <a:xfrm>
            <a:off x="4711700" y="188356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Video</a:t>
            </a:r>
            <a:endParaRPr lang="fr-FR" sz="2000" dirty="0"/>
          </a:p>
        </p:txBody>
      </p:sp>
      <p:pic>
        <p:nvPicPr>
          <p:cNvPr id="3074" name="Picture 2" descr="Tiny And Mighty | Bloomburrow Debut | Magic: The Gathering">
            <a:extLst>
              <a:ext uri="{FF2B5EF4-FFF2-40B4-BE49-F238E27FC236}">
                <a16:creationId xmlns:a16="http://schemas.microsoft.com/office/drawing/2014/main" id="{9192BF2A-71C8-912E-C8AC-8C0B97252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839" y="2943225"/>
            <a:ext cx="3330222" cy="187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691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D9880-6959-7EF6-F67A-83D34B92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>
                <a:latin typeface="Arial"/>
              </a:rPr>
              <a:t>Mini jeu « Trouver la carte »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82DA3DE-18E0-EDBC-6601-A931B7B2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2442369"/>
            <a:ext cx="1162050" cy="3730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FR" sz="2000" dirty="0"/>
              <a:t>SAVE</a:t>
            </a:r>
            <a:endParaRPr lang="fr-FR" sz="1600" dirty="0"/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2C56E95-046D-B95B-7F3F-DD0918394E53}"/>
              </a:ext>
            </a:extLst>
          </p:cNvPr>
          <p:cNvSpPr txBox="1">
            <a:spLocks/>
          </p:cNvSpPr>
          <p:nvPr/>
        </p:nvSpPr>
        <p:spPr>
          <a:xfrm>
            <a:off x="457200" y="1547019"/>
            <a:ext cx="3746500" cy="3992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 err="1"/>
              <a:t>Chatbot</a:t>
            </a:r>
            <a:r>
              <a:rPr lang="fr-FR" sz="1600" dirty="0"/>
              <a:t> feedback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59B4B11-5421-FA79-3C6E-5D9A86135095}"/>
              </a:ext>
            </a:extLst>
          </p:cNvPr>
          <p:cNvSpPr txBox="1">
            <a:spLocks/>
          </p:cNvSpPr>
          <p:nvPr/>
        </p:nvSpPr>
        <p:spPr>
          <a:xfrm>
            <a:off x="457200" y="5539581"/>
            <a:ext cx="3746500" cy="82947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Chatbot</a:t>
            </a:r>
            <a:r>
              <a:rPr lang="fr-FR" sz="2000" dirty="0"/>
              <a:t> input</a:t>
            </a:r>
          </a:p>
          <a:p>
            <a:pPr lvl="1"/>
            <a:endParaRPr lang="fr-FR" sz="16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E4A72D2-CA9C-4143-7CCE-BDF24B32853E}"/>
              </a:ext>
            </a:extLst>
          </p:cNvPr>
          <p:cNvSpPr txBox="1">
            <a:spLocks/>
          </p:cNvSpPr>
          <p:nvPr/>
        </p:nvSpPr>
        <p:spPr>
          <a:xfrm>
            <a:off x="5351674" y="1522811"/>
            <a:ext cx="2644352" cy="8457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Congratulation</a:t>
            </a:r>
          </a:p>
          <a:p>
            <a:r>
              <a:rPr lang="fr-FR" sz="2000" dirty="0"/>
              <a:t>Points </a:t>
            </a:r>
            <a:r>
              <a:rPr lang="fr-FR" sz="2000" dirty="0" err="1"/>
              <a:t>earned</a:t>
            </a:r>
            <a:endParaRPr lang="fr-FR" sz="2000" dirty="0"/>
          </a:p>
          <a:p>
            <a:endParaRPr lang="fr-FR" sz="2000" dirty="0"/>
          </a:p>
        </p:txBody>
      </p:sp>
      <p:pic>
        <p:nvPicPr>
          <p:cNvPr id="7170" name="Picture 2" descr="Corey Bowen on His Magical Job Designing Magic: The Gathering Cards |  DigiPen">
            <a:extLst>
              <a:ext uri="{FF2B5EF4-FFF2-40B4-BE49-F238E27FC236}">
                <a16:creationId xmlns:a16="http://schemas.microsoft.com/office/drawing/2014/main" id="{94CA3AB7-F50F-8F30-4B82-755A31928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674" y="2584450"/>
            <a:ext cx="2644352" cy="363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187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Phase 5 – </a:t>
            </a:r>
            <a:r>
              <a:rPr dirty="0" err="1"/>
              <a:t>Améliorations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Utilisateurs feedback sur les propositions</a:t>
            </a:r>
          </a:p>
          <a:p>
            <a:r>
              <a:rPr lang="fr-FR" dirty="0" err="1"/>
              <a:t>Step</a:t>
            </a:r>
            <a:r>
              <a:rPr lang="fr-FR" dirty="0"/>
              <a:t> 3</a:t>
            </a:r>
          </a:p>
          <a:p>
            <a:pPr lvl="1"/>
            <a:r>
              <a:rPr lang="fr-FR" dirty="0" err="1"/>
              <a:t>Leaderboard</a:t>
            </a:r>
            <a:r>
              <a:rPr lang="fr-FR" dirty="0"/>
              <a:t> jeu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993FE-EEE2-6724-53C6-2F93368C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42356F-D12D-0BBE-7E24-F05D9E223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Hébergement DB</a:t>
            </a:r>
          </a:p>
          <a:p>
            <a:r>
              <a:rPr lang="fr-FR" dirty="0"/>
              <a:t>Hébergement model Back end</a:t>
            </a:r>
          </a:p>
          <a:p>
            <a:r>
              <a:rPr lang="fr-FR" dirty="0"/>
              <a:t>Hébergement Font end</a:t>
            </a:r>
          </a:p>
          <a:p>
            <a:r>
              <a:rPr lang="fr-FR" dirty="0"/>
              <a:t>Cout LLM (Jeu, Image, story, </a:t>
            </a:r>
            <a:r>
              <a:rPr lang="fr-FR" dirty="0" err="1"/>
              <a:t>video</a:t>
            </a:r>
            <a:r>
              <a:rPr lang="fr-FR" dirty="0"/>
              <a:t>)</a:t>
            </a:r>
          </a:p>
          <a:p>
            <a:r>
              <a:rPr lang="fr-FR" dirty="0"/>
              <a:t>Cout data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9804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2414FA-0132-45DC-76BF-8F5DDAD8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Business case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93362F-2449-9AB5-1647-F7D90FA91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Partenariats affiliés / liens d’achat de cartes</a:t>
            </a:r>
          </a:p>
          <a:p>
            <a:r>
              <a:rPr lang="fr-FR" dirty="0"/>
              <a:t>Modèle Premium</a:t>
            </a:r>
          </a:p>
          <a:p>
            <a:r>
              <a:rPr lang="fr-FR" dirty="0"/>
              <a:t>Publicité ciblée</a:t>
            </a:r>
          </a:p>
          <a:p>
            <a:r>
              <a:rPr lang="fr-FR" dirty="0"/>
              <a:t>Evènements</a:t>
            </a:r>
          </a:p>
          <a:p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Données &amp; trafic</a:t>
            </a:r>
          </a:p>
          <a:p>
            <a:pPr lvl="1"/>
            <a:r>
              <a:rPr lang="fr-FR" dirty="0"/>
              <a:t>API payante pour les développeurs tiers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987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8834D-E640-A978-8DAF-58F15243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POC scope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CD440C-027E-2B56-B5B8-CCD1AE7D0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722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8A1943-FB70-FC60-EABF-A2C5398C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Action log POC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E51500-60B3-0F3B-D9AB-053F10509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600" dirty="0" err="1"/>
              <a:t>Fab</a:t>
            </a:r>
            <a:endParaRPr lang="fr-FR" sz="1600" dirty="0"/>
          </a:p>
          <a:p>
            <a:pPr lvl="1"/>
            <a:r>
              <a:rPr lang="fr-FR" sz="1600" dirty="0" err="1"/>
              <a:t>Creation</a:t>
            </a:r>
            <a:r>
              <a:rPr lang="fr-FR" sz="1600" dirty="0"/>
              <a:t> compte </a:t>
            </a:r>
            <a:r>
              <a:rPr lang="fr-FR" sz="1600" dirty="0" err="1"/>
              <a:t>github</a:t>
            </a:r>
            <a:endParaRPr lang="fr-FR" sz="1600" dirty="0"/>
          </a:p>
          <a:p>
            <a:pPr lvl="1"/>
            <a:r>
              <a:rPr lang="fr-FR" sz="1600" dirty="0"/>
              <a:t>Archétype commandants (600)</a:t>
            </a:r>
          </a:p>
          <a:p>
            <a:pPr lvl="1"/>
            <a:r>
              <a:rPr lang="fr-FR" sz="1600" dirty="0"/>
              <a:t>Archétype Carte few shot </a:t>
            </a:r>
            <a:r>
              <a:rPr lang="fr-FR" sz="1600" dirty="0" err="1"/>
              <a:t>promting</a:t>
            </a:r>
            <a:endParaRPr lang="fr-FR" sz="1600" dirty="0"/>
          </a:p>
          <a:p>
            <a:pPr lvl="1"/>
            <a:r>
              <a:rPr lang="fr-FR" sz="1600" dirty="0"/>
              <a:t>Formation </a:t>
            </a:r>
            <a:r>
              <a:rPr lang="fr-FR" sz="1600" dirty="0" err="1"/>
              <a:t>github</a:t>
            </a:r>
            <a:endParaRPr lang="fr-FR" sz="1600" dirty="0"/>
          </a:p>
          <a:p>
            <a:pPr lvl="1"/>
            <a:r>
              <a:rPr lang="fr-FR" sz="1600" dirty="0"/>
              <a:t>Formation </a:t>
            </a:r>
            <a:r>
              <a:rPr lang="fr-FR" sz="1600" dirty="0" err="1"/>
              <a:t>vscode</a:t>
            </a:r>
            <a:r>
              <a:rPr lang="fr-FR" sz="1600" dirty="0"/>
              <a:t> </a:t>
            </a:r>
            <a:r>
              <a:rPr lang="fr-FR" sz="1100" b="0" i="0" dirty="0">
                <a:effectLst/>
                <a:latin typeface="inherit"/>
                <a:hlinkClick r:id="rId2" tooltip="https://youtu.be/dutyOc_cAEU?si=zkAO3sI0Kc-32dOW"/>
              </a:rPr>
              <a:t>https://youtu.be/dutyOc_cAEU?si=zkAO3sI0Kc-32dOW</a:t>
            </a:r>
            <a:endParaRPr lang="fr-FR" sz="1600" dirty="0"/>
          </a:p>
          <a:p>
            <a:pPr lvl="1"/>
            <a:r>
              <a:rPr lang="fr-FR" sz="1600" dirty="0"/>
              <a:t>Structurer le prompt pour le story </a:t>
            </a:r>
            <a:r>
              <a:rPr lang="fr-FR" sz="1600" dirty="0" err="1"/>
              <a:t>creation</a:t>
            </a:r>
            <a:endParaRPr lang="fr-FR" sz="1600" dirty="0"/>
          </a:p>
          <a:p>
            <a:pPr lvl="1"/>
            <a:endParaRPr lang="fr-FR" sz="1600" dirty="0"/>
          </a:p>
          <a:p>
            <a:r>
              <a:rPr lang="fr-FR" sz="1600" dirty="0" err="1"/>
              <a:t>Hedredo</a:t>
            </a:r>
            <a:endParaRPr lang="fr-FR" sz="1600" dirty="0"/>
          </a:p>
          <a:p>
            <a:pPr lvl="1"/>
            <a:r>
              <a:rPr lang="fr-FR" sz="1600" dirty="0" err="1"/>
              <a:t>Creation</a:t>
            </a:r>
            <a:r>
              <a:rPr lang="fr-FR" sz="1600" dirty="0"/>
              <a:t> repo GITHUB</a:t>
            </a:r>
          </a:p>
          <a:p>
            <a:pPr lvl="1"/>
            <a:r>
              <a:rPr lang="fr-FR" sz="1600" dirty="0" err="1"/>
              <a:t>Constrution</a:t>
            </a:r>
            <a:r>
              <a:rPr lang="fr-FR" sz="1600" dirty="0"/>
              <a:t> DB</a:t>
            </a:r>
          </a:p>
          <a:p>
            <a:pPr lvl="1"/>
            <a:r>
              <a:rPr lang="fr-FR" sz="1600" dirty="0"/>
              <a:t>Nettoyage data + </a:t>
            </a:r>
            <a:r>
              <a:rPr lang="fr-FR" sz="1600" dirty="0" err="1"/>
              <a:t>feature</a:t>
            </a:r>
            <a:r>
              <a:rPr lang="fr-FR" sz="1600" dirty="0"/>
              <a:t> engineering</a:t>
            </a:r>
          </a:p>
          <a:p>
            <a:pPr lvl="1"/>
            <a:r>
              <a:rPr lang="fr-FR" sz="1600" dirty="0"/>
              <a:t>Modélisation</a:t>
            </a:r>
          </a:p>
          <a:p>
            <a:pPr lvl="1"/>
            <a:r>
              <a:rPr lang="fr-FR" sz="1600" dirty="0" err="1"/>
              <a:t>Metric</a:t>
            </a:r>
            <a:r>
              <a:rPr lang="fr-FR" sz="1600" dirty="0"/>
              <a:t> évaluation à définir (Feedback utilisateur)</a:t>
            </a:r>
          </a:p>
          <a:p>
            <a:pPr lvl="1"/>
            <a:r>
              <a:rPr lang="fr-FR" sz="1600" dirty="0"/>
              <a:t>Interface front end avec API back end</a:t>
            </a:r>
          </a:p>
          <a:p>
            <a:pPr lvl="1"/>
            <a:endParaRPr lang="fr-FR" sz="1600" dirty="0"/>
          </a:p>
          <a:p>
            <a:pPr lvl="1"/>
            <a:endParaRPr lang="fr-FR" sz="16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0585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1260</Words>
  <Application>Microsoft Office PowerPoint</Application>
  <PresentationFormat>Affichage à l'écran (4:3)</PresentationFormat>
  <Paragraphs>299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inherit</vt:lpstr>
      <vt:lpstr>Office Theme</vt:lpstr>
      <vt:lpstr>Projet IA – Recommandation de cartes MTG pour commander</vt:lpstr>
      <vt:lpstr>1. Objectif du système</vt:lpstr>
      <vt:lpstr>Données nécessaires SCRAP</vt:lpstr>
      <vt:lpstr>Amélioration de deck existant</vt:lpstr>
      <vt:lpstr>Content base vs Collaborative filtering</vt:lpstr>
      <vt:lpstr>Content base </vt:lpstr>
      <vt:lpstr>Ecarté</vt:lpstr>
      <vt:lpstr>Données nécessaires Master data</vt:lpstr>
      <vt:lpstr>Données nécessaires Story</vt:lpstr>
      <vt:lpstr>Données nécessaires Game</vt:lpstr>
      <vt:lpstr>Modélisation du problème</vt:lpstr>
      <vt:lpstr>5. Évaluation</vt:lpstr>
      <vt:lpstr>Pipeline technique</vt:lpstr>
      <vt:lpstr>MVP</vt:lpstr>
      <vt:lpstr>Phase 4 – Interface utilisateur</vt:lpstr>
      <vt:lpstr>Amélioration de deck existant</vt:lpstr>
      <vt:lpstr>Création de decks en fonction commandant </vt:lpstr>
      <vt:lpstr>Préconisation de cartes à venir</vt:lpstr>
      <vt:lpstr>Génération de story sur la base d’une decklist</vt:lpstr>
      <vt:lpstr>Génération vidéo sur la base d’une decklist</vt:lpstr>
      <vt:lpstr>Mini jeu « Trouver la carte »</vt:lpstr>
      <vt:lpstr>Phase 5 – Améliorations</vt:lpstr>
      <vt:lpstr>Couts</vt:lpstr>
      <vt:lpstr>Business case</vt:lpstr>
      <vt:lpstr>POC scope</vt:lpstr>
      <vt:lpstr>Action log POC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 – Recommandation de cartes MTG</dc:title>
  <dc:subject/>
  <dc:creator/>
  <cp:keywords/>
  <dc:description>generated using python-pptx</dc:description>
  <cp:lastModifiedBy>fabien masson</cp:lastModifiedBy>
  <cp:revision>11</cp:revision>
  <dcterms:created xsi:type="dcterms:W3CDTF">2013-01-27T09:14:16Z</dcterms:created>
  <dcterms:modified xsi:type="dcterms:W3CDTF">2025-09-05T09:01:29Z</dcterms:modified>
  <cp:category/>
</cp:coreProperties>
</file>